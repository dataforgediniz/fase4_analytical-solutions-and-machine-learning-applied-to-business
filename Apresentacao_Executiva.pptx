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868a4c0-a9f3-e424-e7a4-7fb4dc1bf840}">
          <p14:sldIdLst>
            <p14:sldId id="256"/>
            <p14:sldId id="257"/>
          </p14:sldIdLst>
        </p14:section>
        <p14:section name="Dados e indicadores" id="{e7e0f741-7be7-9916-5b34-440bfb384b7a}">
          <p14:sldIdLst>
            <p14:sldId id="258"/>
            <p14:sldId id="259"/>
          </p14:sldIdLst>
        </p14:section>
        <p14:section name="Insights" id="{b949d3b2-35ef-5f70-e30d-190644da69af}">
          <p14:sldIdLst>
            <p14:sldId id="260"/>
            <p14:sldId id="261"/>
            <p14:sldId id="262"/>
            <p14:sldId id="263"/>
          </p14:sldIdLst>
        </p14:section>
        <p14:section name="Customer Insights" id="{5c5aecdd-776d-ffbd-e7cc-cb63a451ed21}">
          <p14:sldIdLst>
            <p14:sldId id="264"/>
          </p14:sldIdLst>
        </p14:section>
        <p14:section name="Recomendações e conclusão" id="{17efd51d-874c-7f9c-aa7e-44432dec940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F3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32F3E"/>
                </a:solidFill>
                <a:latin typeface="+mj-lt"/>
              </a:rPr>
              <a:t>Participação nas avaliações por categoria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das avaliações</c:v>
                </c:pt>
              </c:strCache>
            </c:strRef>
          </c:tx>
          <c:spPr>
            <a:solidFill>
              <a:srgbClr val="146EB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Eletrônicos</c:v>
                  </c:pt>
                  <c:pt idx="1">
                    <c:v>Computadores e Acessórios</c:v>
                  </c:pt>
                  <c:pt idx="2">
                    <c:v>Casa e Cozinha</c:v>
                  </c:pt>
                  <c:pt idx="3">
                    <c:v>Demais categorias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59.7</c:v>
                </c:pt>
                <c:pt idx="1">
                  <c:v>26.6</c:v>
                </c:pt>
                <c:pt idx="2">
                  <c:v>12.6</c:v>
                </c:pt>
                <c:pt idx="3">
                  <c:v>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F3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32F3E"/>
                </a:solidFill>
                <a:latin typeface="+mj-lt"/>
              </a:rPr>
              <a:t>% de produtos com nota abaixo de 4,0, por faixa de desconto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 nota &lt; 4,0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 a 20%</c:v>
                  </c:pt>
                  <c:pt idx="1">
                    <c:v>21 a 40%</c:v>
                  </c:pt>
                  <c:pt idx="2">
                    <c:v>41 a 60%</c:v>
                  </c:pt>
                  <c:pt idx="3">
                    <c:v>61 a 80%</c:v>
                  </c:pt>
                  <c:pt idx="4">
                    <c:v>Acima de 80%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16.6</c:v>
                </c:pt>
                <c:pt idx="1">
                  <c:v>19.8</c:v>
                </c:pt>
                <c:pt idx="2">
                  <c:v>28.3</c:v>
                </c:pt>
                <c:pt idx="3">
                  <c:v>28.2</c:v>
                </c:pt>
                <c:pt idx="4">
                  <c:v>42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F3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32F3E"/>
                </a:solidFill>
                <a:latin typeface="+mj-lt"/>
              </a:rPr>
              <a:t>Sentimento das menções por tema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Custo-benefício</c:v>
                  </c:pt>
                  <c:pt idx="1">
                    <c:v>Facilidade de uso</c:v>
                  </c:pt>
                  <c:pt idx="2">
                    <c:v>Qualidade e acabamento</c:v>
                  </c:pt>
                  <c:pt idx="3">
                    <c:v>Atendimento e garantia</c:v>
                  </c:pt>
                  <c:pt idx="4">
                    <c:v>Entrega e embalagem</c:v>
                  </c:pt>
                  <c:pt idx="5">
                    <c:v>Defeito e durabilidade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81.4</c:v>
                </c:pt>
                <c:pt idx="1">
                  <c:v>78.4</c:v>
                </c:pt>
                <c:pt idx="2">
                  <c:v>71.4</c:v>
                </c:pt>
                <c:pt idx="3">
                  <c:v>55.3</c:v>
                </c:pt>
                <c:pt idx="4">
                  <c:v>51.6</c:v>
                </c:pt>
                <c:pt idx="5">
                  <c:v>34.3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Neutro</c:v>
                </c:pt>
              </c:strCache>
            </c:strRef>
          </c:tx>
          <c:spPr>
            <a:solidFill>
              <a:srgbClr val="8C96A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Custo-benefício</c:v>
                  </c:pt>
                  <c:pt idx="1">
                    <c:v>Facilidade de uso</c:v>
                  </c:pt>
                  <c:pt idx="2">
                    <c:v>Qualidade e acabamento</c:v>
                  </c:pt>
                  <c:pt idx="3">
                    <c:v>Atendimento e garantia</c:v>
                  </c:pt>
                  <c:pt idx="4">
                    <c:v>Entrega e embalagem</c:v>
                  </c:pt>
                  <c:pt idx="5">
                    <c:v>Defeito e durabilidade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11.6</c:v>
                </c:pt>
                <c:pt idx="1">
                  <c:v>13.8</c:v>
                </c:pt>
                <c:pt idx="2">
                  <c:v>17.2</c:v>
                </c:pt>
                <c:pt idx="3">
                  <c:v>20.9</c:v>
                </c:pt>
                <c:pt idx="4">
                  <c:v>24.1</c:v>
                </c:pt>
                <c:pt idx="5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C847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Custo-benefício</c:v>
                  </c:pt>
                  <c:pt idx="1">
                    <c:v>Facilidade de uso</c:v>
                  </c:pt>
                  <c:pt idx="2">
                    <c:v>Qualidade e acabamento</c:v>
                  </c:pt>
                  <c:pt idx="3">
                    <c:v>Atendimento e garantia</c:v>
                  </c:pt>
                  <c:pt idx="4">
                    <c:v>Entrega e embalagem</c:v>
                  </c:pt>
                  <c:pt idx="5">
                    <c:v>Defeito e durabilidade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</c:v>
                </c:pt>
                <c:pt idx="1">
                  <c:v>7.9</c:v>
                </c:pt>
                <c:pt idx="2">
                  <c:v>11.4</c:v>
                </c:pt>
                <c:pt idx="3">
                  <c:v>23.9</c:v>
                </c:pt>
                <c:pt idx="4">
                  <c:v>24.3</c:v>
                </c:pt>
                <c:pt idx="5">
                  <c:v>45.7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Somos o grupo formado por Livia, Allan, Matheus, Marcelo e André. Fomos contratados para responder uma pergunta da liderança: quais produtos, categorias e estratégias comerciais merecem mais atenção, e onde estão as oportunidades. Seguimos a cadeia preço, desconto, engajamento e satisfação.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empresa tem dados de produtos, preços, descontos, avaliações e comentários, mas precisa transformar isso em decisões. Analisamos 1.351 produtos únicos da base Amazon Sales, em 9 categorias e 207 subcategorias. Engajamento aqui é a quantidade de avaliações, e satisfação é a nota do cliente, complementada pelos comentários.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análise, tratamos a base no Power Query. Convertemos preços e descontos de texto para número, tratamos uma nota inválida e contagens vazias, e removemos 114 linhas duplicadas. Criamos níveis de categoria, marca, faixas e os quadrantes. Para os comentários, classificamos 33,6 mil trechos por sentimento e por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portfólio tem 1.351 produtos e 23,8 milhões de avaliações. A nota média ponderada pelo volume é 4,16, um portfólio bem avaliado. Mas o desconto médio é de 46,7%: quase metade do portfólio é vendida com 50% ou mais de desconto. Nos comentários, 61% dos trechos são positivos. E há um alerta: 112 produtos estão em risco de reputação.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insight: o engajamento é muito concentrado. Os 10% produtos mais avaliados concentram 62% de todas as avaliações, e Eletrônicos sozinho responde por quase 60%. Casa e Cozinha tem um terço dos produtos e só 13% do engajamento. A decisão é proteger os campeões e desenvolver Casa e Cozinha como segunda alavanca.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Cruzamos engajamento e satisfação para cada produto, com corte na mediana de avaliações e na nota 4. Os campeões, em verde, são 564 produtos e concentram 84% das avaliações. Em vermelho estão 112 produtos em risco de reputação: muita gente comprando e se decepcionando. Eles somam 11,7% do engajamento, e 20 deles são fones In-Ear. Em azul, 446 joias escondidas: bem avaliadas, mas com pouca visibilidade.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ponto: desconto não compra satisfação. A correlação entre desconto e nota é negativa, de menos 0,16. Acima de 80% de desconto, 42% dos produtos têm nota abaixo de 4, contra 16,6% na faixa de até 20%. E o desconto agressivo também não gera mais engajamento: a faixa de 21 a 40% tem a maior mediana de avaliações. Já os produtos acima de 20 mil rúpias têm a melhor nota, 4,23, com o menor desconto: o cliente paga quando percebe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dashboard tem cinco páginas. A Visão Executiva resume os indicadores e alertas. Produtos e Categorias mostra o cruzamento engajamento e satisfação e o ranking de produtos. Preços analisa a relação entre preço, desconto e nota. Customer Insights traz o que os clientes dizem, e Recomendações fecha com o plano de ação. Todas as páginas têm filtros e filtro cruzado.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complementar os números, classificamos o sentimento e o tema de cada trecho de comentário. O que o cliente mais valoriza é custo-benefício: é o tema mais citado, com 81% de menções positivas, seguido de facilidade de uso e qualidade. O que mais incomoda é defeito e durabilidade: 46% das menções são negativas, e em Casa e Cozinha chega a 57%. Depois vêm entrega e atendimento, cada um com cerca de 24% de menções negativas.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Transformamos isso em um plano de ação com três prioridades altas. Primeiro, qualidade do sortimento: revisar com os fornecedores os 112 produtos em risco, começando pelos fones. Segundo, política de descontos: limitar descontos acima de 60% a itens bem avaliados e testar descontos moderados. Terceiro, dar visibilidade às 446 joias escondidas. Em seguida, controle de qualidade, melhoria de entrega e pós-venda, e uso do custo-benefício na comunicação.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Quais mensagens a liderança deve levar? Um: nosso engajamento depende de poucos produtos, e parte dele está em risco. Dois: desconto profundo não traz satisfação nem engajamento; precisamos de desconto inteligente, não máximo. Três: temos produtos ótimos escondidos, e dar visibilidade a eles é a alavanca mais barata. Quatro: o cliente nos diz o que corrigir: durabilidade, entrega e garantia.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5156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DEE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Tech Challenge Fase 4 · Amazon Product Performance &amp; Customer Insights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51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POSTECH · DATA ANALYTICS · TECH CHALLENGE FASE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6304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Amazon Product Performance &amp; Customer Insights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EE8"/>
                </a:solidFill>
              </a:rPr>
              <a:t>Quais produtos, categorias e estratégias comerciais merecem atenção, e quais oportunidades os dados revelam?</a:t>
            </a:r>
            <a:endParaRPr lang="en-US" sz="1800" dirty="0"/>
          </a:p>
        </p:txBody>
      </p:sp>
      <p:sp>
        <p:nvSpPr>
          <p:cNvPr id="5" name="cadeia_0"/>
          <p:cNvSpPr/>
          <p:nvPr/>
        </p:nvSpPr>
        <p:spPr>
          <a:xfrm>
            <a:off x="731520" y="4983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6" name="cadeia_txt_0"/>
          <p:cNvSpPr txBox="1"/>
          <p:nvPr/>
        </p:nvSpPr>
        <p:spPr>
          <a:xfrm>
            <a:off x="731520" y="4983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Preço</a:t>
            </a:r>
            <a:endParaRPr lang="en-US" sz="1300" dirty="0"/>
          </a:p>
        </p:txBody>
      </p:sp>
      <p:sp>
        <p:nvSpPr>
          <p:cNvPr id="7" name="cadeia_seta_0"/>
          <p:cNvSpPr txBox="1"/>
          <p:nvPr/>
        </p:nvSpPr>
        <p:spPr>
          <a:xfrm>
            <a:off x="2148840" y="4983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cadeia_1"/>
          <p:cNvSpPr/>
          <p:nvPr/>
        </p:nvSpPr>
        <p:spPr>
          <a:xfrm>
            <a:off x="2423160" y="4983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9" name="cadeia_txt_1"/>
          <p:cNvSpPr txBox="1"/>
          <p:nvPr/>
        </p:nvSpPr>
        <p:spPr>
          <a:xfrm>
            <a:off x="2423160" y="4983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Desconto</a:t>
            </a:r>
            <a:endParaRPr lang="en-US" sz="1300" dirty="0"/>
          </a:p>
        </p:txBody>
      </p:sp>
      <p:sp>
        <p:nvSpPr>
          <p:cNvPr id="10" name="cadeia_seta_1"/>
          <p:cNvSpPr txBox="1"/>
          <p:nvPr/>
        </p:nvSpPr>
        <p:spPr>
          <a:xfrm>
            <a:off x="3840480" y="4983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cadeia_2"/>
          <p:cNvSpPr/>
          <p:nvPr/>
        </p:nvSpPr>
        <p:spPr>
          <a:xfrm>
            <a:off x="4114800" y="4983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12" name="cadeia_txt_2"/>
          <p:cNvSpPr txBox="1"/>
          <p:nvPr/>
        </p:nvSpPr>
        <p:spPr>
          <a:xfrm>
            <a:off x="4114800" y="4983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Engajamento</a:t>
            </a:r>
            <a:endParaRPr lang="en-US" sz="1300" dirty="0"/>
          </a:p>
        </p:txBody>
      </p:sp>
      <p:sp>
        <p:nvSpPr>
          <p:cNvPr id="13" name="cadeia_seta_2"/>
          <p:cNvSpPr txBox="1"/>
          <p:nvPr/>
        </p:nvSpPr>
        <p:spPr>
          <a:xfrm>
            <a:off x="5532120" y="4983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cadeia_3"/>
          <p:cNvSpPr/>
          <p:nvPr/>
        </p:nvSpPr>
        <p:spPr>
          <a:xfrm>
            <a:off x="5806440" y="4983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15" name="cadeia_txt_3"/>
          <p:cNvSpPr txBox="1"/>
          <p:nvPr/>
        </p:nvSpPr>
        <p:spPr>
          <a:xfrm>
            <a:off x="5806440" y="4983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Satisfação</a:t>
            </a:r>
            <a:endParaRPr lang="en-US" sz="1300" dirty="0"/>
          </a:p>
        </p:txBody>
      </p:sp>
      <p:sp>
        <p:nvSpPr>
          <p:cNvPr id="16" name="integrantes_cartao"/>
          <p:cNvSpPr/>
          <p:nvPr/>
        </p:nvSpPr>
        <p:spPr>
          <a:xfrm>
            <a:off x="8138160" y="1051560"/>
            <a:ext cx="3520440" cy="4389120"/>
          </a:xfrm>
          <a:prstGeom prst="roundRect">
            <a:avLst>
              <a:gd name="adj" fmla="val 3896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17" name="integrantes_circulo"/>
          <p:cNvSpPr/>
          <p:nvPr/>
        </p:nvSpPr>
        <p:spPr>
          <a:xfrm>
            <a:off x="8458200" y="137160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8" name="integrantes_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508760"/>
            <a:ext cx="274320" cy="274320"/>
          </a:xfrm>
          <a:prstGeom prst="rect">
            <a:avLst/>
          </a:prstGeom>
        </p:spPr>
      </p:pic>
      <p:sp>
        <p:nvSpPr>
          <p:cNvPr id="19" name="integrantes_titulo"/>
          <p:cNvSpPr txBox="1"/>
          <p:nvPr/>
        </p:nvSpPr>
        <p:spPr>
          <a:xfrm>
            <a:off x="9144000" y="14447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Integrantes</a:t>
            </a:r>
            <a:endParaRPr lang="en-US" sz="1800" dirty="0"/>
          </a:p>
        </p:txBody>
      </p:sp>
      <p:sp>
        <p:nvSpPr>
          <p:cNvPr id="20" name="integrantes_nomes"/>
          <p:cNvSpPr txBox="1"/>
          <p:nvPr/>
        </p:nvSpPr>
        <p:spPr>
          <a:xfrm>
            <a:off x="845820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5EAF0"/>
                </a:solidFill>
              </a:rPr>
              <a:t>Livia Alves de Oliveira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5EAF0"/>
                </a:solidFill>
              </a:rPr>
              <a:t>Allan Carlos Diniz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5EAF0"/>
                </a:solidFill>
              </a:rPr>
              <a:t>Matheus Gueicha Ribeiro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5EAF0"/>
                </a:solidFill>
              </a:rPr>
              <a:t>Marcelo Henrique Mourão Abbade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5EAF0"/>
                </a:solidFill>
              </a:rPr>
              <a:t>André Vieira de Souza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CONTEXTO DO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liga preço e desconto à satisfação do cliente</a:t>
            </a:r>
            <a:endParaRPr lang="en-US" sz="3000" dirty="0"/>
          </a:p>
        </p:txBody>
      </p:sp>
      <p:sp>
        <p:nvSpPr>
          <p:cNvPr id="4" name="etapa_0"/>
          <p:cNvSpPr/>
          <p:nvPr/>
        </p:nvSpPr>
        <p:spPr>
          <a:xfrm>
            <a:off x="548640" y="16916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etapa_0_circulo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6" name="etapa_0_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37410"/>
            <a:ext cx="342900" cy="342900"/>
          </a:xfrm>
          <a:prstGeom prst="rect">
            <a:avLst/>
          </a:prstGeom>
        </p:spPr>
      </p:pic>
      <p:sp>
        <p:nvSpPr>
          <p:cNvPr id="7" name="etapa_nome_0"/>
          <p:cNvSpPr txBox="1"/>
          <p:nvPr/>
        </p:nvSpPr>
        <p:spPr>
          <a:xfrm>
            <a:off x="82296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Preço</a:t>
            </a:r>
            <a:endParaRPr lang="en-US" sz="2000" dirty="0"/>
          </a:p>
        </p:txBody>
      </p:sp>
      <p:sp>
        <p:nvSpPr>
          <p:cNvPr id="8" name="etapa_desc_0"/>
          <p:cNvSpPr txBox="1"/>
          <p:nvPr/>
        </p:nvSpPr>
        <p:spPr>
          <a:xfrm>
            <a:off x="82296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Preço original e preço com desconto</a:t>
            </a:r>
            <a:endParaRPr lang="en-US" sz="1400" dirty="0"/>
          </a:p>
        </p:txBody>
      </p:sp>
      <p:sp>
        <p:nvSpPr>
          <p:cNvPr id="9" name="etapa_seta_0"/>
          <p:cNvSpPr txBox="1"/>
          <p:nvPr/>
        </p:nvSpPr>
        <p:spPr>
          <a:xfrm>
            <a:off x="306324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etapa_1"/>
          <p:cNvSpPr/>
          <p:nvPr/>
        </p:nvSpPr>
        <p:spPr>
          <a:xfrm>
            <a:off x="3429000" y="16916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etapa_1_circulo"/>
          <p:cNvSpPr/>
          <p:nvPr/>
        </p:nvSpPr>
        <p:spPr>
          <a:xfrm>
            <a:off x="3703320" y="1965960"/>
            <a:ext cx="685800" cy="6858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2" name="etapa_1_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2137410"/>
            <a:ext cx="342900" cy="342900"/>
          </a:xfrm>
          <a:prstGeom prst="rect">
            <a:avLst/>
          </a:prstGeom>
        </p:spPr>
      </p:pic>
      <p:sp>
        <p:nvSpPr>
          <p:cNvPr id="13" name="etapa_nome_1"/>
          <p:cNvSpPr txBox="1"/>
          <p:nvPr/>
        </p:nvSpPr>
        <p:spPr>
          <a:xfrm>
            <a:off x="370332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Desconto</a:t>
            </a:r>
            <a:endParaRPr lang="en-US" sz="2000" dirty="0"/>
          </a:p>
        </p:txBody>
      </p:sp>
      <p:sp>
        <p:nvSpPr>
          <p:cNvPr id="14" name="etapa_desc_1"/>
          <p:cNvSpPr txBox="1"/>
          <p:nvPr/>
        </p:nvSpPr>
        <p:spPr>
          <a:xfrm>
            <a:off x="370332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Percentual de desconto aplicado</a:t>
            </a:r>
            <a:endParaRPr lang="en-US" sz="1400" dirty="0"/>
          </a:p>
        </p:txBody>
      </p:sp>
      <p:sp>
        <p:nvSpPr>
          <p:cNvPr id="15" name="etapa_seta_1"/>
          <p:cNvSpPr txBox="1"/>
          <p:nvPr/>
        </p:nvSpPr>
        <p:spPr>
          <a:xfrm>
            <a:off x="594360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etapa_2"/>
          <p:cNvSpPr/>
          <p:nvPr/>
        </p:nvSpPr>
        <p:spPr>
          <a:xfrm>
            <a:off x="6309360" y="16916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etapa_2_circulo"/>
          <p:cNvSpPr/>
          <p:nvPr/>
        </p:nvSpPr>
        <p:spPr>
          <a:xfrm>
            <a:off x="6583680" y="1965960"/>
            <a:ext cx="685800" cy="685800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pic>
        <p:nvPicPr>
          <p:cNvPr id="18" name="etapa_2_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2137410"/>
            <a:ext cx="342900" cy="342900"/>
          </a:xfrm>
          <a:prstGeom prst="rect">
            <a:avLst/>
          </a:prstGeom>
        </p:spPr>
      </p:pic>
      <p:sp>
        <p:nvSpPr>
          <p:cNvPr id="19" name="etapa_nome_2"/>
          <p:cNvSpPr txBox="1"/>
          <p:nvPr/>
        </p:nvSpPr>
        <p:spPr>
          <a:xfrm>
            <a:off x="658368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Engajamento</a:t>
            </a:r>
            <a:endParaRPr lang="en-US" sz="2000" dirty="0"/>
          </a:p>
        </p:txBody>
      </p:sp>
      <p:sp>
        <p:nvSpPr>
          <p:cNvPr id="20" name="etapa_desc_2"/>
          <p:cNvSpPr txBox="1"/>
          <p:nvPr/>
        </p:nvSpPr>
        <p:spPr>
          <a:xfrm>
            <a:off x="658368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Quantidade de avaliações do produto</a:t>
            </a:r>
            <a:endParaRPr lang="en-US" sz="1400" dirty="0"/>
          </a:p>
        </p:txBody>
      </p:sp>
      <p:sp>
        <p:nvSpPr>
          <p:cNvPr id="21" name="etapa_seta_2"/>
          <p:cNvSpPr txBox="1"/>
          <p:nvPr/>
        </p:nvSpPr>
        <p:spPr>
          <a:xfrm>
            <a:off x="882396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etapa_3"/>
          <p:cNvSpPr/>
          <p:nvPr/>
        </p:nvSpPr>
        <p:spPr>
          <a:xfrm>
            <a:off x="9189720" y="16916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3" name="etapa_3_circulo"/>
          <p:cNvSpPr/>
          <p:nvPr/>
        </p:nvSpPr>
        <p:spPr>
          <a:xfrm>
            <a:off x="9464040" y="1965960"/>
            <a:ext cx="685800" cy="6858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4" name="etapa_3_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490" y="2137410"/>
            <a:ext cx="342900" cy="342900"/>
          </a:xfrm>
          <a:prstGeom prst="rect">
            <a:avLst/>
          </a:prstGeom>
        </p:spPr>
      </p:pic>
      <p:sp>
        <p:nvSpPr>
          <p:cNvPr id="25" name="etapa_nome_3"/>
          <p:cNvSpPr txBox="1"/>
          <p:nvPr/>
        </p:nvSpPr>
        <p:spPr>
          <a:xfrm>
            <a:off x="946404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Satisfação</a:t>
            </a:r>
            <a:endParaRPr lang="en-US" sz="2000" dirty="0"/>
          </a:p>
        </p:txBody>
      </p:sp>
      <p:sp>
        <p:nvSpPr>
          <p:cNvPr id="26" name="etapa_desc_3"/>
          <p:cNvSpPr txBox="1"/>
          <p:nvPr/>
        </p:nvSpPr>
        <p:spPr>
          <a:xfrm>
            <a:off x="946404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 do cliente e conteúdo dos comentários</a:t>
            </a:r>
            <a:endParaRPr lang="en-US" sz="1400" dirty="0"/>
          </a:p>
        </p:txBody>
      </p:sp>
      <p:sp>
        <p:nvSpPr>
          <p:cNvPr id="27" name="base_num_0"/>
          <p:cNvSpPr txBox="1"/>
          <p:nvPr/>
        </p:nvSpPr>
        <p:spPr>
          <a:xfrm>
            <a:off x="548640" y="4526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1.465</a:t>
            </a:r>
            <a:endParaRPr lang="en-US" sz="4000" dirty="0"/>
          </a:p>
        </p:txBody>
      </p:sp>
      <p:sp>
        <p:nvSpPr>
          <p:cNvPr id="28" name="base_lbl_0"/>
          <p:cNvSpPr txBox="1"/>
          <p:nvPr/>
        </p:nvSpPr>
        <p:spPr>
          <a:xfrm>
            <a:off x="54864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registros na base do Kaggle (Amazon Sales)</a:t>
            </a:r>
            <a:endParaRPr lang="en-US" sz="1400" dirty="0"/>
          </a:p>
        </p:txBody>
      </p:sp>
      <p:sp>
        <p:nvSpPr>
          <p:cNvPr id="29" name="base_num_1"/>
          <p:cNvSpPr txBox="1"/>
          <p:nvPr/>
        </p:nvSpPr>
        <p:spPr>
          <a:xfrm>
            <a:off x="4297680" y="4526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1.351</a:t>
            </a:r>
            <a:endParaRPr lang="en-US" sz="4000" dirty="0"/>
          </a:p>
        </p:txBody>
      </p:sp>
      <p:sp>
        <p:nvSpPr>
          <p:cNvPr id="30" name="base_lbl_1"/>
          <p:cNvSpPr txBox="1"/>
          <p:nvPr/>
        </p:nvSpPr>
        <p:spPr>
          <a:xfrm>
            <a:off x="429768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produtos únicos após o tratamento</a:t>
            </a:r>
            <a:endParaRPr lang="en-US" sz="1400" dirty="0"/>
          </a:p>
        </p:txBody>
      </p:sp>
      <p:sp>
        <p:nvSpPr>
          <p:cNvPr id="31" name="base_num_2"/>
          <p:cNvSpPr txBox="1"/>
          <p:nvPr/>
        </p:nvSpPr>
        <p:spPr>
          <a:xfrm>
            <a:off x="8046720" y="4526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9 · 207</a:t>
            </a:r>
            <a:endParaRPr lang="en-US" sz="4000" dirty="0"/>
          </a:p>
        </p:txBody>
      </p:sp>
      <p:sp>
        <p:nvSpPr>
          <p:cNvPr id="32" name="base_lbl_2"/>
          <p:cNvSpPr txBox="1"/>
          <p:nvPr/>
        </p:nvSpPr>
        <p:spPr>
          <a:xfrm>
            <a:off x="804672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categorias e subcategorias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PREPARAÇÃO DOS DADOS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 base bruta a um modelo confiável no Power BI</a:t>
            </a:r>
            <a:endParaRPr lang="en-US" sz="3000" dirty="0"/>
          </a:p>
        </p:txBody>
      </p:sp>
      <p:sp>
        <p:nvSpPr>
          <p:cNvPr id="4" name="prep_0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prep_0_circulo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6" name="prep_0_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365760" cy="365760"/>
          </a:xfrm>
          <a:prstGeom prst="rect">
            <a:avLst/>
          </a:prstGeom>
        </p:spPr>
      </p:pic>
      <p:sp>
        <p:nvSpPr>
          <p:cNvPr id="7" name="prep_titulo_0"/>
          <p:cNvSpPr txBox="1"/>
          <p:nvPr/>
        </p:nvSpPr>
        <p:spPr>
          <a:xfrm>
            <a:off x="18745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Limpeza</a:t>
            </a:r>
            <a:endParaRPr lang="en-US" sz="2000" dirty="0"/>
          </a:p>
        </p:txBody>
      </p:sp>
      <p:sp>
        <p:nvSpPr>
          <p:cNvPr id="8" name="prep_desc_0"/>
          <p:cNvSpPr txBox="1"/>
          <p:nvPr/>
        </p:nvSpPr>
        <p:spPr>
          <a:xfrm>
            <a:off x="1874520" y="2468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Preços em texto ("₹1,099") e descontos ("64%") convertidos em número; nota inválida e contagens vazias tratadas</a:t>
            </a:r>
            <a:endParaRPr lang="en-US" sz="1400" dirty="0"/>
          </a:p>
        </p:txBody>
      </p:sp>
      <p:sp>
        <p:nvSpPr>
          <p:cNvPr id="9" name="prep_1"/>
          <p:cNvSpPr/>
          <p:nvPr/>
        </p:nvSpPr>
        <p:spPr>
          <a:xfrm>
            <a:off x="617220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prep_1_circulo"/>
          <p:cNvSpPr/>
          <p:nvPr/>
        </p:nvSpPr>
        <p:spPr>
          <a:xfrm>
            <a:off x="6492240" y="205740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prep_1_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40280"/>
            <a:ext cx="365760" cy="365760"/>
          </a:xfrm>
          <a:prstGeom prst="rect">
            <a:avLst/>
          </a:prstGeom>
        </p:spPr>
      </p:pic>
      <p:sp>
        <p:nvSpPr>
          <p:cNvPr id="12" name="prep_titulo_1"/>
          <p:cNvSpPr txBox="1"/>
          <p:nvPr/>
        </p:nvSpPr>
        <p:spPr>
          <a:xfrm>
            <a:off x="749808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Duplicatas</a:t>
            </a:r>
            <a:endParaRPr lang="en-US" sz="2000" dirty="0"/>
          </a:p>
        </p:txBody>
      </p:sp>
      <p:sp>
        <p:nvSpPr>
          <p:cNvPr id="13" name="prep_desc_1"/>
          <p:cNvSpPr txBox="1"/>
          <p:nvPr/>
        </p:nvSpPr>
        <p:spPr>
          <a:xfrm>
            <a:off x="7498080" y="2468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114 linhas repetiam o mesmo produto: ficou o registro com mais avaliações, resultando em 1.351 produtos únicos</a:t>
            </a:r>
            <a:endParaRPr lang="en-US" sz="1400" dirty="0"/>
          </a:p>
        </p:txBody>
      </p:sp>
      <p:sp>
        <p:nvSpPr>
          <p:cNvPr id="14" name="prep_2"/>
          <p:cNvSpPr/>
          <p:nvPr/>
        </p:nvSpPr>
        <p:spPr>
          <a:xfrm>
            <a:off x="548640" y="3977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prep_2_circulo"/>
          <p:cNvSpPr/>
          <p:nvPr/>
        </p:nvSpPr>
        <p:spPr>
          <a:xfrm>
            <a:off x="868680" y="4343400"/>
            <a:ext cx="731520" cy="731520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pic>
        <p:nvPicPr>
          <p:cNvPr id="16" name="prep_2_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365760" cy="365760"/>
          </a:xfrm>
          <a:prstGeom prst="rect">
            <a:avLst/>
          </a:prstGeom>
        </p:spPr>
      </p:pic>
      <p:sp>
        <p:nvSpPr>
          <p:cNvPr id="17" name="prep_titulo_2"/>
          <p:cNvSpPr txBox="1"/>
          <p:nvPr/>
        </p:nvSpPr>
        <p:spPr>
          <a:xfrm>
            <a:off x="187452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Enriquecimento</a:t>
            </a:r>
            <a:endParaRPr lang="en-US" sz="2000" dirty="0"/>
          </a:p>
        </p:txBody>
      </p:sp>
      <p:sp>
        <p:nvSpPr>
          <p:cNvPr id="18" name="prep_desc_2"/>
          <p:cNvSpPr txBox="1"/>
          <p:nvPr/>
        </p:nvSpPr>
        <p:spPr>
          <a:xfrm>
            <a:off x="1874520" y="4754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Categoria em níveis, marca, faixas de preço, desconto e nota, quadrante e nota bayesiana</a:t>
            </a:r>
            <a:endParaRPr lang="en-US" sz="1400" dirty="0"/>
          </a:p>
        </p:txBody>
      </p:sp>
      <p:sp>
        <p:nvSpPr>
          <p:cNvPr id="19" name="prep_3"/>
          <p:cNvSpPr/>
          <p:nvPr/>
        </p:nvSpPr>
        <p:spPr>
          <a:xfrm>
            <a:off x="6172200" y="3977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prep_3_circulo"/>
          <p:cNvSpPr/>
          <p:nvPr/>
        </p:nvSpPr>
        <p:spPr>
          <a:xfrm>
            <a:off x="6492240" y="4343400"/>
            <a:ext cx="731520" cy="7315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1" name="prep_3_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26280"/>
            <a:ext cx="365760" cy="365760"/>
          </a:xfrm>
          <a:prstGeom prst="rect">
            <a:avLst/>
          </a:prstGeom>
        </p:spPr>
      </p:pic>
      <p:sp>
        <p:nvSpPr>
          <p:cNvPr id="22" name="prep_titulo_3"/>
          <p:cNvSpPr txBox="1"/>
          <p:nvPr/>
        </p:nvSpPr>
        <p:spPr>
          <a:xfrm>
            <a:off x="749808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Comentários</a:t>
            </a:r>
            <a:endParaRPr lang="en-US" sz="2000" dirty="0"/>
          </a:p>
        </p:txBody>
      </p:sp>
      <p:sp>
        <p:nvSpPr>
          <p:cNvPr id="23" name="prep_desc_3"/>
          <p:cNvSpPr txBox="1"/>
          <p:nvPr/>
        </p:nvSpPr>
        <p:spPr>
          <a:xfrm>
            <a:off x="7498080" y="4754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33,6 mil trechos classificados por sentimento (VADER) e em 14 temas, como qualidade, entrega e garantia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PRINCIPAIS INDICADORES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Portfólio bem avaliado, mas com desconto estrutural alto</a:t>
            </a:r>
            <a:endParaRPr lang="en-US" sz="3000" dirty="0"/>
          </a:p>
        </p:txBody>
      </p:sp>
      <p:sp>
        <p:nvSpPr>
          <p:cNvPr id="4" name="kpi_0"/>
          <p:cNvSpPr/>
          <p:nvPr/>
        </p:nvSpPr>
        <p:spPr>
          <a:xfrm>
            <a:off x="548640" y="1737360"/>
            <a:ext cx="20665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kpi_num_0"/>
          <p:cNvSpPr txBox="1"/>
          <p:nvPr/>
        </p:nvSpPr>
        <p:spPr>
          <a:xfrm>
            <a:off x="685800" y="2011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1.351</a:t>
            </a:r>
            <a:endParaRPr lang="en-US" sz="3600" dirty="0"/>
          </a:p>
        </p:txBody>
      </p:sp>
      <p:sp>
        <p:nvSpPr>
          <p:cNvPr id="6" name="kpi_lbl_0"/>
          <p:cNvSpPr txBox="1"/>
          <p:nvPr/>
        </p:nvSpPr>
        <p:spPr>
          <a:xfrm>
            <a:off x="685800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produtos no portfólio</a:t>
            </a:r>
            <a:endParaRPr lang="en-US" sz="1400" dirty="0"/>
          </a:p>
        </p:txBody>
      </p:sp>
      <p:sp>
        <p:nvSpPr>
          <p:cNvPr id="7" name="kpi_1"/>
          <p:cNvSpPr/>
          <p:nvPr/>
        </p:nvSpPr>
        <p:spPr>
          <a:xfrm>
            <a:off x="2798064" y="1737360"/>
            <a:ext cx="20665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kpi_num_1"/>
          <p:cNvSpPr txBox="1"/>
          <p:nvPr/>
        </p:nvSpPr>
        <p:spPr>
          <a:xfrm>
            <a:off x="2935224" y="2011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23,8 mi</a:t>
            </a:r>
            <a:endParaRPr lang="en-US" sz="3600" dirty="0"/>
          </a:p>
        </p:txBody>
      </p:sp>
      <p:sp>
        <p:nvSpPr>
          <p:cNvPr id="9" name="kpi_lbl_1"/>
          <p:cNvSpPr txBox="1"/>
          <p:nvPr/>
        </p:nvSpPr>
        <p:spPr>
          <a:xfrm>
            <a:off x="2935224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avaliações (engajamento)</a:t>
            </a:r>
            <a:endParaRPr lang="en-US" sz="1400" dirty="0"/>
          </a:p>
        </p:txBody>
      </p:sp>
      <p:sp>
        <p:nvSpPr>
          <p:cNvPr id="10" name="kpi_2"/>
          <p:cNvSpPr/>
          <p:nvPr/>
        </p:nvSpPr>
        <p:spPr>
          <a:xfrm>
            <a:off x="5047488" y="1737360"/>
            <a:ext cx="20665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kpi_num_2"/>
          <p:cNvSpPr txBox="1"/>
          <p:nvPr/>
        </p:nvSpPr>
        <p:spPr>
          <a:xfrm>
            <a:off x="5184648" y="2011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4,16</a:t>
            </a:r>
            <a:endParaRPr lang="en-US" sz="3600" dirty="0"/>
          </a:p>
        </p:txBody>
      </p:sp>
      <p:sp>
        <p:nvSpPr>
          <p:cNvPr id="12" name="kpi_lbl_2"/>
          <p:cNvSpPr txBox="1"/>
          <p:nvPr/>
        </p:nvSpPr>
        <p:spPr>
          <a:xfrm>
            <a:off x="5184648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 média ponderada</a:t>
            </a:r>
            <a:endParaRPr lang="en-US" sz="1400" dirty="0"/>
          </a:p>
        </p:txBody>
      </p:sp>
      <p:sp>
        <p:nvSpPr>
          <p:cNvPr id="13" name="kpi_3"/>
          <p:cNvSpPr/>
          <p:nvPr/>
        </p:nvSpPr>
        <p:spPr>
          <a:xfrm>
            <a:off x="7296912" y="1737360"/>
            <a:ext cx="20665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4" name="kpi_num_3"/>
          <p:cNvSpPr txBox="1"/>
          <p:nvPr/>
        </p:nvSpPr>
        <p:spPr>
          <a:xfrm>
            <a:off x="7434072" y="2011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46,7%</a:t>
            </a:r>
            <a:endParaRPr lang="en-US" sz="3600" dirty="0"/>
          </a:p>
        </p:txBody>
      </p:sp>
      <p:sp>
        <p:nvSpPr>
          <p:cNvPr id="15" name="kpi_lbl_3"/>
          <p:cNvSpPr txBox="1"/>
          <p:nvPr/>
        </p:nvSpPr>
        <p:spPr>
          <a:xfrm>
            <a:off x="7434072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desconto médio</a:t>
            </a:r>
            <a:endParaRPr lang="en-US" sz="1400" dirty="0"/>
          </a:p>
        </p:txBody>
      </p:sp>
      <p:sp>
        <p:nvSpPr>
          <p:cNvPr id="16" name="kpi_4"/>
          <p:cNvSpPr/>
          <p:nvPr/>
        </p:nvSpPr>
        <p:spPr>
          <a:xfrm>
            <a:off x="9546336" y="1737360"/>
            <a:ext cx="20665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kpi_num_4"/>
          <p:cNvSpPr txBox="1"/>
          <p:nvPr/>
        </p:nvSpPr>
        <p:spPr>
          <a:xfrm>
            <a:off x="9683496" y="2011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112</a:t>
            </a:r>
            <a:endParaRPr lang="en-US" sz="3600" dirty="0"/>
          </a:p>
        </p:txBody>
      </p:sp>
      <p:sp>
        <p:nvSpPr>
          <p:cNvPr id="18" name="kpi_lbl_4"/>
          <p:cNvSpPr txBox="1"/>
          <p:nvPr/>
        </p:nvSpPr>
        <p:spPr>
          <a:xfrm>
            <a:off x="9683496" y="2880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produtos em risco de reputação</a:t>
            </a:r>
            <a:endParaRPr lang="en-US" sz="1400" dirty="0"/>
          </a:p>
        </p:txBody>
      </p:sp>
      <p:sp>
        <p:nvSpPr>
          <p:cNvPr id="19" name="dest_0"/>
          <p:cNvSpPr/>
          <p:nvPr/>
        </p:nvSpPr>
        <p:spPr>
          <a:xfrm>
            <a:off x="548640" y="41148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dest_num_0"/>
          <p:cNvSpPr txBox="1"/>
          <p:nvPr/>
        </p:nvSpPr>
        <p:spPr>
          <a:xfrm>
            <a:off x="914400" y="4526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49%</a:t>
            </a:r>
            <a:endParaRPr lang="en-US" sz="4400" dirty="0"/>
          </a:p>
        </p:txBody>
      </p:sp>
      <p:sp>
        <p:nvSpPr>
          <p:cNvPr id="21" name="dest_lbl_0"/>
          <p:cNvSpPr txBox="1"/>
          <p:nvPr/>
        </p:nvSpPr>
        <p:spPr>
          <a:xfrm>
            <a:off x="2560320" y="4526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 portfólio é vendido com desconto de 50% ou mais</a:t>
            </a:r>
            <a:endParaRPr lang="en-US" sz="1600" dirty="0"/>
          </a:p>
        </p:txBody>
      </p:sp>
      <p:sp>
        <p:nvSpPr>
          <p:cNvPr id="22" name="dest_1"/>
          <p:cNvSpPr/>
          <p:nvPr/>
        </p:nvSpPr>
        <p:spPr>
          <a:xfrm>
            <a:off x="6172200" y="41148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3" name="dest_num_1"/>
          <p:cNvSpPr txBox="1"/>
          <p:nvPr/>
        </p:nvSpPr>
        <p:spPr>
          <a:xfrm>
            <a:off x="6537960" y="4526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61%</a:t>
            </a:r>
            <a:endParaRPr lang="en-US" sz="4400" dirty="0"/>
          </a:p>
        </p:txBody>
      </p:sp>
      <p:sp>
        <p:nvSpPr>
          <p:cNvPr id="24" name="dest_lbl_1"/>
          <p:cNvSpPr txBox="1"/>
          <p:nvPr/>
        </p:nvSpPr>
        <p:spPr>
          <a:xfrm>
            <a:off x="8183880" y="4526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dos trechos de comentários são positivos; 11,5% são negativos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1 · ENGAJAMENTO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10% dos produtos concentram 62% das avaliações</a:t>
            </a:r>
            <a:endParaRPr lang="en-US" sz="3000" dirty="0"/>
          </a:p>
        </p:txBody>
      </p:sp>
      <p:sp>
        <p:nvSpPr>
          <p:cNvPr id="4" name="conc_num"/>
          <p:cNvSpPr txBox="1"/>
          <p:nvPr/>
        </p:nvSpPr>
        <p:spPr>
          <a:xfrm>
            <a:off x="548640" y="17373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61,6%</a:t>
            </a:r>
            <a:endParaRPr lang="en-US" sz="6600" dirty="0"/>
          </a:p>
        </p:txBody>
      </p:sp>
      <p:sp>
        <p:nvSpPr>
          <p:cNvPr id="5" name="conc_lbl"/>
          <p:cNvSpPr txBox="1"/>
          <p:nvPr/>
        </p:nvSpPr>
        <p:spPr>
          <a:xfrm>
            <a:off x="548640" y="2926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das avaliações estão em apenas 135 produtos</a:t>
            </a:r>
            <a:endParaRPr lang="en-US" sz="1800" dirty="0"/>
          </a:p>
        </p:txBody>
      </p:sp>
      <p:sp>
        <p:nvSpPr>
          <p:cNvPr id="6" name="conc_obs"/>
          <p:cNvSpPr txBox="1"/>
          <p:nvPr/>
        </p:nvSpPr>
        <p:spPr>
          <a:xfrm>
            <a:off x="548640" y="3840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Eletrônicos responde por 59,7% do engajamento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Casa e Cozinha tem 33% dos produtos e só 12,6% das avaliações</a:t>
            </a:r>
            <a:endParaRPr lang="en-US" sz="1500" dirty="0"/>
          </a:p>
        </p:txBody>
      </p:sp>
      <p:sp>
        <p:nvSpPr>
          <p:cNvPr id="7" name="conc_decisao"/>
          <p:cNvSpPr/>
          <p:nvPr/>
        </p:nvSpPr>
        <p:spPr>
          <a:xfrm>
            <a:off x="548640" y="525780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conc_decisao_txt"/>
          <p:cNvSpPr txBox="1"/>
          <p:nvPr/>
        </p:nvSpPr>
        <p:spPr>
          <a:xfrm>
            <a:off x="731520" y="53492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Decisão: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proteger estoque e reputação dos campeões e desenvolver Casa e Cozinha</a:t>
            </a:r>
            <a:endParaRPr lang="en-US" sz="1400" dirty="0"/>
          </a:p>
        </p:txBody>
      </p:sp>
      <p:graphicFrame>
        <p:nvGraphicFramePr>
          <p:cNvPr id="9" name="grafico_categorias" descr=""/>
          <p:cNvGraphicFramePr/>
          <p:nvPr/>
        </p:nvGraphicFramePr>
        <p:xfrm>
          <a:off x="4937760" y="16459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2 · ENGAJAMENTO × SATISFAÇÃO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112 produtos muito avaliados estão decepcionando o cliente</a:t>
            </a:r>
            <a:endParaRPr lang="en-US" sz="3000" dirty="0"/>
          </a:p>
        </p:txBody>
      </p:sp>
      <p:sp>
        <p:nvSpPr>
          <p:cNvPr id="4" name="print_produtos_moldura"/>
          <p:cNvSpPr/>
          <p:nvPr/>
        </p:nvSpPr>
        <p:spPr>
          <a:xfrm>
            <a:off x="548640" y="1682496"/>
            <a:ext cx="6784848" cy="3863031"/>
          </a:xfrm>
          <a:prstGeom prst="roundRect">
            <a:avLst>
              <a:gd name="adj" fmla="val 1894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pic>
        <p:nvPicPr>
          <p:cNvPr id="5" name="print_produtos" descr="C:\Users\allan.diniz\AppData\Local\Temp\claude\c--Users-allan-diniz-OneDrive---LINK-COMERCIAL-IMPORTADORA-E-EXPORTADORA-LTDA--rea-de-Trabalho-Nova-pasta\37794fbf-e23a-4b5d-a66c-c2037cc93d1b\scratchpad\deck\prints\pagin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37360"/>
            <a:ext cx="6675120" cy="3753303"/>
          </a:xfrm>
          <a:prstGeom prst="rect">
            <a:avLst/>
          </a:prstGeom>
        </p:spPr>
      </p:pic>
      <p:sp>
        <p:nvSpPr>
          <p:cNvPr id="6" name="quad_legenda"/>
          <p:cNvSpPr txBox="1"/>
          <p:nvPr/>
        </p:nvSpPr>
        <p:spPr>
          <a:xfrm>
            <a:off x="548640" y="5627823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Página 2 do dashboard · corte: mediana de 4.736 avaliações e nota 4,0</a:t>
            </a:r>
            <a:endParaRPr lang="en-US" sz="1100" dirty="0"/>
          </a:p>
        </p:txBody>
      </p:sp>
      <p:sp>
        <p:nvSpPr>
          <p:cNvPr id="7" name="quad_0"/>
          <p:cNvSpPr/>
          <p:nvPr/>
        </p:nvSpPr>
        <p:spPr>
          <a:xfrm>
            <a:off x="7635240" y="1691640"/>
            <a:ext cx="397764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quad_0_circulo"/>
          <p:cNvSpPr/>
          <p:nvPr/>
        </p:nvSpPr>
        <p:spPr>
          <a:xfrm>
            <a:off x="7772400" y="1874520"/>
            <a:ext cx="566928" cy="5669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9" name="quad_0_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132" y="2016252"/>
            <a:ext cx="283464" cy="283464"/>
          </a:xfrm>
          <a:prstGeom prst="rect">
            <a:avLst/>
          </a:prstGeom>
        </p:spPr>
      </p:pic>
      <p:sp>
        <p:nvSpPr>
          <p:cNvPr id="10" name="quad_t_0"/>
          <p:cNvSpPr txBox="1"/>
          <p:nvPr/>
        </p:nvSpPr>
        <p:spPr>
          <a:xfrm>
            <a:off x="8503920" y="18013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Campeões</a:t>
            </a:r>
            <a:endParaRPr lang="en-US" sz="1600" dirty="0"/>
          </a:p>
        </p:txBody>
      </p:sp>
      <p:sp>
        <p:nvSpPr>
          <p:cNvPr id="11" name="quad_d_0"/>
          <p:cNvSpPr txBox="1"/>
          <p:nvPr/>
        </p:nvSpPr>
        <p:spPr>
          <a:xfrm>
            <a:off x="850392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564 produtos · 84% das avaliações</a:t>
            </a:r>
            <a:endParaRPr lang="en-US" sz="1200" dirty="0"/>
          </a:p>
        </p:txBody>
      </p:sp>
      <p:sp>
        <p:nvSpPr>
          <p:cNvPr id="12" name="quad_1"/>
          <p:cNvSpPr/>
          <p:nvPr/>
        </p:nvSpPr>
        <p:spPr>
          <a:xfrm>
            <a:off x="7635240" y="2761488"/>
            <a:ext cx="397764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3" name="quad_1_circulo"/>
          <p:cNvSpPr/>
          <p:nvPr/>
        </p:nvSpPr>
        <p:spPr>
          <a:xfrm>
            <a:off x="7772400" y="2944368"/>
            <a:ext cx="566928" cy="566928"/>
          </a:xfrm>
          <a:prstGeom prst="ellipse">
            <a:avLst/>
          </a:prstGeom>
          <a:solidFill>
            <a:srgbClr val="C8473B"/>
          </a:solidFill>
          <a:ln w="12700">
            <a:solidFill>
              <a:srgbClr val="C8473B"/>
            </a:solidFill>
            <a:prstDash val="solid"/>
          </a:ln>
        </p:spPr>
      </p:sp>
      <p:pic>
        <p:nvPicPr>
          <p:cNvPr id="14" name="quad_1_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132" y="3086100"/>
            <a:ext cx="283464" cy="283464"/>
          </a:xfrm>
          <a:prstGeom prst="rect">
            <a:avLst/>
          </a:prstGeom>
        </p:spPr>
      </p:pic>
      <p:sp>
        <p:nvSpPr>
          <p:cNvPr id="15" name="quad_t_1"/>
          <p:cNvSpPr txBox="1"/>
          <p:nvPr/>
        </p:nvSpPr>
        <p:spPr>
          <a:xfrm>
            <a:off x="8503920" y="28712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Risco de reputação</a:t>
            </a:r>
            <a:endParaRPr lang="en-US" sz="1600" dirty="0"/>
          </a:p>
        </p:txBody>
      </p:sp>
      <p:sp>
        <p:nvSpPr>
          <p:cNvPr id="16" name="quad_d_1"/>
          <p:cNvSpPr txBox="1"/>
          <p:nvPr/>
        </p:nvSpPr>
        <p:spPr>
          <a:xfrm>
            <a:off x="8503920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112 produtos · 11,7% das avaliações · 20 são fones In-Ear (nota 3,89)</a:t>
            </a:r>
            <a:endParaRPr lang="en-US" sz="1200" dirty="0"/>
          </a:p>
        </p:txBody>
      </p:sp>
      <p:sp>
        <p:nvSpPr>
          <p:cNvPr id="17" name="quad_2"/>
          <p:cNvSpPr/>
          <p:nvPr/>
        </p:nvSpPr>
        <p:spPr>
          <a:xfrm>
            <a:off x="7635240" y="3831336"/>
            <a:ext cx="397764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8" name="quad_2_circulo"/>
          <p:cNvSpPr/>
          <p:nvPr/>
        </p:nvSpPr>
        <p:spPr>
          <a:xfrm>
            <a:off x="7772400" y="4014216"/>
            <a:ext cx="566928" cy="56692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pic>
        <p:nvPicPr>
          <p:cNvPr id="19" name="quad_2_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132" y="4155948"/>
            <a:ext cx="283464" cy="283464"/>
          </a:xfrm>
          <a:prstGeom prst="rect">
            <a:avLst/>
          </a:prstGeom>
        </p:spPr>
      </p:pic>
      <p:sp>
        <p:nvSpPr>
          <p:cNvPr id="20" name="quad_t_2"/>
          <p:cNvSpPr txBox="1"/>
          <p:nvPr/>
        </p:nvSpPr>
        <p:spPr>
          <a:xfrm>
            <a:off x="8503920" y="39410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Joias escondidas</a:t>
            </a:r>
            <a:endParaRPr lang="en-US" sz="1600" dirty="0"/>
          </a:p>
        </p:txBody>
      </p:sp>
      <p:sp>
        <p:nvSpPr>
          <p:cNvPr id="21" name="quad_d_2"/>
          <p:cNvSpPr txBox="1"/>
          <p:nvPr/>
        </p:nvSpPr>
        <p:spPr>
          <a:xfrm>
            <a:off x="8503920" y="4261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446 produtos com nota ≥ 4,0 · só 3,1% das avaliações</a:t>
            </a:r>
            <a:endParaRPr lang="en-US" sz="1200" dirty="0"/>
          </a:p>
        </p:txBody>
      </p:sp>
      <p:sp>
        <p:nvSpPr>
          <p:cNvPr id="22" name="quad_3"/>
          <p:cNvSpPr/>
          <p:nvPr/>
        </p:nvSpPr>
        <p:spPr>
          <a:xfrm>
            <a:off x="7635240" y="4901184"/>
            <a:ext cx="397764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3" name="quad_3_circulo"/>
          <p:cNvSpPr/>
          <p:nvPr/>
        </p:nvSpPr>
        <p:spPr>
          <a:xfrm>
            <a:off x="7772400" y="5084064"/>
            <a:ext cx="566928" cy="566928"/>
          </a:xfrm>
          <a:prstGeom prst="ellipse">
            <a:avLst/>
          </a:prstGeom>
          <a:solidFill>
            <a:srgbClr val="8C96A3"/>
          </a:solidFill>
          <a:ln w="12700">
            <a:solidFill>
              <a:srgbClr val="8C96A3"/>
            </a:solidFill>
            <a:prstDash val="solid"/>
          </a:ln>
        </p:spPr>
      </p:sp>
      <p:pic>
        <p:nvPicPr>
          <p:cNvPr id="24" name="quad_3_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132" y="5225796"/>
            <a:ext cx="283464" cy="283464"/>
          </a:xfrm>
          <a:prstGeom prst="rect">
            <a:avLst/>
          </a:prstGeom>
        </p:spPr>
      </p:pic>
      <p:sp>
        <p:nvSpPr>
          <p:cNvPr id="25" name="quad_t_3"/>
          <p:cNvSpPr txBox="1"/>
          <p:nvPr/>
        </p:nvSpPr>
        <p:spPr>
          <a:xfrm>
            <a:off x="8503920" y="5010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 observação</a:t>
            </a:r>
            <a:endParaRPr lang="en-US" sz="1600" dirty="0"/>
          </a:p>
        </p:txBody>
      </p:sp>
      <p:sp>
        <p:nvSpPr>
          <p:cNvPr id="26" name="quad_d_3"/>
          <p:cNvSpPr txBox="1"/>
          <p:nvPr/>
        </p:nvSpPr>
        <p:spPr>
          <a:xfrm>
            <a:off x="8503920" y="5330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228 produtos · baixo engajamento e nota &lt; 4,0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3 · PREÇO E DESCONTO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Desconto profundo não compra satisfação</a:t>
            </a:r>
            <a:endParaRPr lang="en-US" sz="3000" dirty="0"/>
          </a:p>
        </p:txBody>
      </p:sp>
      <p:graphicFrame>
        <p:nvGraphicFramePr>
          <p:cNvPr id="4" name="grafico_desconto" descr=""/>
          <p:cNvGraphicFramePr/>
          <p:nvPr/>
        </p:nvGraphicFramePr>
        <p:xfrm>
          <a:off x="548640" y="16459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m_0"/>
          <p:cNvSpPr/>
          <p:nvPr/>
        </p:nvSpPr>
        <p:spPr>
          <a:xfrm>
            <a:off x="7863840" y="169164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cham_n_0"/>
          <p:cNvSpPr txBox="1"/>
          <p:nvPr/>
        </p:nvSpPr>
        <p:spPr>
          <a:xfrm>
            <a:off x="809244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−0,16</a:t>
            </a:r>
            <a:endParaRPr lang="en-US" sz="3000" dirty="0"/>
          </a:p>
        </p:txBody>
      </p:sp>
      <p:sp>
        <p:nvSpPr>
          <p:cNvPr id="7" name="cham_d_0"/>
          <p:cNvSpPr txBox="1"/>
          <p:nvPr/>
        </p:nvSpPr>
        <p:spPr>
          <a:xfrm>
            <a:off x="809244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correlação entre desconto e nota: mais desconto, nota menor</a:t>
            </a:r>
            <a:endParaRPr lang="en-US" sz="1300" dirty="0"/>
          </a:p>
        </p:txBody>
      </p:sp>
      <p:sp>
        <p:nvSpPr>
          <p:cNvPr id="8" name="cham_1"/>
          <p:cNvSpPr/>
          <p:nvPr/>
        </p:nvSpPr>
        <p:spPr>
          <a:xfrm>
            <a:off x="7863840" y="3172968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9" name="cham_n_1"/>
          <p:cNvSpPr txBox="1"/>
          <p:nvPr/>
        </p:nvSpPr>
        <p:spPr>
          <a:xfrm>
            <a:off x="8092440" y="33101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21–40%</a:t>
            </a:r>
            <a:endParaRPr lang="en-US" sz="3000" dirty="0"/>
          </a:p>
        </p:txBody>
      </p:sp>
      <p:sp>
        <p:nvSpPr>
          <p:cNvPr id="10" name="cham_d_1"/>
          <p:cNvSpPr txBox="1"/>
          <p:nvPr/>
        </p:nvSpPr>
        <p:spPr>
          <a:xfrm>
            <a:off x="809244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faixa com mais engajamento: mediana de 7,2 mil avaliações, o dobro da faixa de 41–60%</a:t>
            </a:r>
            <a:endParaRPr lang="en-US" sz="1300" dirty="0"/>
          </a:p>
        </p:txBody>
      </p:sp>
      <p:sp>
        <p:nvSpPr>
          <p:cNvPr id="11" name="cham_2"/>
          <p:cNvSpPr/>
          <p:nvPr/>
        </p:nvSpPr>
        <p:spPr>
          <a:xfrm>
            <a:off x="7863840" y="4654296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2" name="cham_n_2"/>
          <p:cNvSpPr txBox="1"/>
          <p:nvPr/>
        </p:nvSpPr>
        <p:spPr>
          <a:xfrm>
            <a:off x="8092440" y="47914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4,23</a:t>
            </a:r>
            <a:endParaRPr lang="en-US" sz="3000" dirty="0"/>
          </a:p>
        </p:txBody>
      </p:sp>
      <p:sp>
        <p:nvSpPr>
          <p:cNvPr id="13" name="cham_d_2"/>
          <p:cNvSpPr txBox="1"/>
          <p:nvPr/>
        </p:nvSpPr>
        <p:spPr>
          <a:xfrm>
            <a:off x="8092440" y="534009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nota dos produtos acima de ₹20 mil, a melhor do portfólio, com o menor desconto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DEMONSTRAÇÃO DO DASHBOARD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Cinco páginas no Power BI, do resumo à ação</a:t>
            </a:r>
            <a:endParaRPr lang="en-US" sz="3000" dirty="0"/>
          </a:p>
        </p:txBody>
      </p:sp>
      <p:sp>
        <p:nvSpPr>
          <p:cNvPr id="4" name="print_visao_executiva_moldura"/>
          <p:cNvSpPr/>
          <p:nvPr/>
        </p:nvSpPr>
        <p:spPr>
          <a:xfrm>
            <a:off x="548640" y="1682496"/>
            <a:ext cx="6693408" cy="3811616"/>
          </a:xfrm>
          <a:prstGeom prst="roundRect">
            <a:avLst>
              <a:gd name="adj" fmla="val 1919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pic>
        <p:nvPicPr>
          <p:cNvPr id="5" name="print_visao_executiva" descr="C:\Users\allan.diniz\AppData\Local\Temp\claude\c--Users-allan-diniz-OneDrive---LINK-COMERCIAL-IMPORTADORA-E-EXPORTADORA-LTDA--rea-de-Trabalho-Nova-pasta\37794fbf-e23a-4b5d-a66c-c2037cc93d1b\scratchpad\deck\prints\pagin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37360"/>
            <a:ext cx="6583680" cy="3701888"/>
          </a:xfrm>
          <a:prstGeom prst="rect">
            <a:avLst/>
          </a:prstGeom>
        </p:spPr>
      </p:pic>
      <p:sp>
        <p:nvSpPr>
          <p:cNvPr id="6" name="print1_lbl"/>
          <p:cNvSpPr txBox="1"/>
          <p:nvPr/>
        </p:nvSpPr>
        <p:spPr>
          <a:xfrm>
            <a:off x="548640" y="55764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Visão Executiva · indicadores-chave e principais alertas</a:t>
            </a:r>
            <a:endParaRPr lang="en-US" sz="1200" dirty="0"/>
          </a:p>
        </p:txBody>
      </p:sp>
      <p:sp>
        <p:nvSpPr>
          <p:cNvPr id="7" name="print_mini_2_moldura"/>
          <p:cNvSpPr/>
          <p:nvPr/>
        </p:nvSpPr>
        <p:spPr>
          <a:xfrm>
            <a:off x="7580376" y="1682496"/>
            <a:ext cx="1984248" cy="1163738"/>
          </a:xfrm>
          <a:prstGeom prst="roundRect">
            <a:avLst>
              <a:gd name="adj" fmla="val 6286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pic>
        <p:nvPicPr>
          <p:cNvPr id="8" name="print_mini_2" descr="C:\Users\allan.diniz\AppData\Local\Temp\claude\c--Users-allan-diniz-OneDrive---LINK-COMERCIAL-IMPORTADORA-E-EXPORTADORA-LTDA--rea-de-Trabalho-Nova-pasta\37794fbf-e23a-4b5d-a66c-c2037cc93d1b\scratchpad\deck\prints\pagin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37360"/>
            <a:ext cx="1874520" cy="1054010"/>
          </a:xfrm>
          <a:prstGeom prst="rect">
            <a:avLst/>
          </a:prstGeom>
        </p:spPr>
      </p:pic>
      <p:sp>
        <p:nvSpPr>
          <p:cNvPr id="9" name="mini_lbl_2"/>
          <p:cNvSpPr txBox="1"/>
          <p:nvPr/>
        </p:nvSpPr>
        <p:spPr>
          <a:xfrm>
            <a:off x="7589520" y="290109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2. Produtos e Categorias</a:t>
            </a:r>
            <a:endParaRPr lang="en-US" sz="1100" dirty="0"/>
          </a:p>
        </p:txBody>
      </p:sp>
      <p:sp>
        <p:nvSpPr>
          <p:cNvPr id="10" name="print_mini_3_moldura"/>
          <p:cNvSpPr/>
          <p:nvPr/>
        </p:nvSpPr>
        <p:spPr>
          <a:xfrm>
            <a:off x="9637776" y="1682496"/>
            <a:ext cx="1984248" cy="1163738"/>
          </a:xfrm>
          <a:prstGeom prst="roundRect">
            <a:avLst>
              <a:gd name="adj" fmla="val 6286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pic>
        <p:nvPicPr>
          <p:cNvPr id="11" name="print_mini_3" descr="C:\Users\allan.diniz\AppData\Local\Temp\claude\c--Users-allan-diniz-OneDrive---LINK-COMERCIAL-IMPORTADORA-E-EXPORTADORA-LTDA--rea-de-Trabalho-Nova-pasta\37794fbf-e23a-4b5d-a66c-c2037cc93d1b\scratchpad\deck\prints\pagin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737360"/>
            <a:ext cx="1874520" cy="1054010"/>
          </a:xfrm>
          <a:prstGeom prst="rect">
            <a:avLst/>
          </a:prstGeom>
        </p:spPr>
      </p:pic>
      <p:sp>
        <p:nvSpPr>
          <p:cNvPr id="12" name="mini_lbl_3"/>
          <p:cNvSpPr txBox="1"/>
          <p:nvPr/>
        </p:nvSpPr>
        <p:spPr>
          <a:xfrm>
            <a:off x="9646920" y="290109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3. Preços e Estratégia</a:t>
            </a:r>
            <a:endParaRPr lang="en-US" sz="1100" dirty="0"/>
          </a:p>
        </p:txBody>
      </p:sp>
      <p:sp>
        <p:nvSpPr>
          <p:cNvPr id="13" name="print_mini_4_moldura"/>
          <p:cNvSpPr/>
          <p:nvPr/>
        </p:nvSpPr>
        <p:spPr>
          <a:xfrm>
            <a:off x="7580376" y="3374136"/>
            <a:ext cx="1984248" cy="1163738"/>
          </a:xfrm>
          <a:prstGeom prst="roundRect">
            <a:avLst>
              <a:gd name="adj" fmla="val 6286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pic>
        <p:nvPicPr>
          <p:cNvPr id="14" name="print_mini_4" descr="C:\Users\allan.diniz\AppData\Local\Temp\claude\c--Users-allan-diniz-OneDrive---LINK-COMERCIAL-IMPORTADORA-E-EXPORTADORA-LTDA--rea-de-Trabalho-Nova-pasta\37794fbf-e23a-4b5d-a66c-c2037cc93d1b\scratchpad\deck\prints\pagin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429000"/>
            <a:ext cx="1874520" cy="1054010"/>
          </a:xfrm>
          <a:prstGeom prst="rect">
            <a:avLst/>
          </a:prstGeom>
        </p:spPr>
      </p:pic>
      <p:sp>
        <p:nvSpPr>
          <p:cNvPr id="15" name="mini_lbl_4"/>
          <p:cNvSpPr txBox="1"/>
          <p:nvPr/>
        </p:nvSpPr>
        <p:spPr>
          <a:xfrm>
            <a:off x="7589520" y="459273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4. Customer Insights</a:t>
            </a:r>
            <a:endParaRPr lang="en-US" sz="1100" dirty="0"/>
          </a:p>
        </p:txBody>
      </p:sp>
      <p:sp>
        <p:nvSpPr>
          <p:cNvPr id="16" name="print_mini_5_moldura"/>
          <p:cNvSpPr/>
          <p:nvPr/>
        </p:nvSpPr>
        <p:spPr>
          <a:xfrm>
            <a:off x="9637776" y="3374136"/>
            <a:ext cx="1984248" cy="1163738"/>
          </a:xfrm>
          <a:prstGeom prst="roundRect">
            <a:avLst>
              <a:gd name="adj" fmla="val 6286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pic>
        <p:nvPicPr>
          <p:cNvPr id="17" name="print_mini_5" descr="C:\Users\allan.diniz\AppData\Local\Temp\claude\c--Users-allan-diniz-OneDrive---LINK-COMERCIAL-IMPORTADORA-E-EXPORTADORA-LTDA--rea-de-Trabalho-Nova-pasta\37794fbf-e23a-4b5d-a66c-c2037cc93d1b\scratchpad\deck\prints\pagina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29000"/>
            <a:ext cx="1874520" cy="1054010"/>
          </a:xfrm>
          <a:prstGeom prst="rect">
            <a:avLst/>
          </a:prstGeom>
        </p:spPr>
      </p:pic>
      <p:sp>
        <p:nvSpPr>
          <p:cNvPr id="18" name="mini_lbl_5"/>
          <p:cNvSpPr txBox="1"/>
          <p:nvPr/>
        </p:nvSpPr>
        <p:spPr>
          <a:xfrm>
            <a:off x="9646920" y="459273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5. Recomendações</a:t>
            </a:r>
            <a:endParaRPr lang="en-US" sz="1100" dirty="0"/>
          </a:p>
        </p:txBody>
      </p:sp>
      <p:sp>
        <p:nvSpPr>
          <p:cNvPr id="19" name="dash_interacao"/>
          <p:cNvSpPr txBox="1"/>
          <p:nvPr/>
        </p:nvSpPr>
        <p:spPr>
          <a:xfrm>
            <a:off x="7589520" y="51206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Filtros por categoria, marca, faixa de preço e desconto, quadrante, tema e sentimento, com filtro cruzado entre os visuais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CUSTOMER INSIGHTS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Clientes valorizam custo-benefício e criticam durabilidade</a:t>
            </a:r>
            <a:endParaRPr lang="en-US" sz="3000" dirty="0"/>
          </a:p>
        </p:txBody>
      </p:sp>
      <p:graphicFrame>
        <p:nvGraphicFramePr>
          <p:cNvPr id="4" name="grafico_temas" descr=""/>
          <p:cNvGraphicFramePr/>
          <p:nvPr/>
        </p:nvGraphicFramePr>
        <p:xfrm>
          <a:off x="548640" y="164592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i_0"/>
          <p:cNvSpPr/>
          <p:nvPr/>
        </p:nvSpPr>
        <p:spPr>
          <a:xfrm>
            <a:off x="8001000" y="1691640"/>
            <a:ext cx="3611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ci_0_circulo"/>
          <p:cNvSpPr/>
          <p:nvPr/>
        </p:nvSpPr>
        <p:spPr>
          <a:xfrm>
            <a:off x="8183880" y="2057400"/>
            <a:ext cx="594360" cy="594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7" name="ci_0_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470" y="2205990"/>
            <a:ext cx="297180" cy="297180"/>
          </a:xfrm>
          <a:prstGeom prst="rect">
            <a:avLst/>
          </a:prstGeom>
        </p:spPr>
      </p:pic>
      <p:sp>
        <p:nvSpPr>
          <p:cNvPr id="8" name="ci_n_0"/>
          <p:cNvSpPr txBox="1"/>
          <p:nvPr/>
        </p:nvSpPr>
        <p:spPr>
          <a:xfrm>
            <a:off x="8961120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81%</a:t>
            </a:r>
            <a:endParaRPr lang="en-US" sz="2800" dirty="0"/>
          </a:p>
        </p:txBody>
      </p:sp>
      <p:sp>
        <p:nvSpPr>
          <p:cNvPr id="9" name="ci_d_0"/>
          <p:cNvSpPr txBox="1"/>
          <p:nvPr/>
        </p:nvSpPr>
        <p:spPr>
          <a:xfrm>
            <a:off x="8961120" y="2313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 menções a custo-benefício são positivas: é o tema mais citado</a:t>
            </a:r>
            <a:endParaRPr lang="en-US" sz="1200" dirty="0"/>
          </a:p>
        </p:txBody>
      </p:sp>
      <p:sp>
        <p:nvSpPr>
          <p:cNvPr id="10" name="ci_1"/>
          <p:cNvSpPr/>
          <p:nvPr/>
        </p:nvSpPr>
        <p:spPr>
          <a:xfrm>
            <a:off x="8001000" y="3172968"/>
            <a:ext cx="3611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ci_1_circulo"/>
          <p:cNvSpPr/>
          <p:nvPr/>
        </p:nvSpPr>
        <p:spPr>
          <a:xfrm>
            <a:off x="8183880" y="3538728"/>
            <a:ext cx="594360" cy="594360"/>
          </a:xfrm>
          <a:prstGeom prst="ellipse">
            <a:avLst/>
          </a:prstGeom>
          <a:solidFill>
            <a:srgbClr val="C8473B"/>
          </a:solidFill>
          <a:ln w="12700">
            <a:solidFill>
              <a:srgbClr val="C8473B"/>
            </a:solidFill>
            <a:prstDash val="solid"/>
          </a:ln>
        </p:spPr>
      </p:sp>
      <p:pic>
        <p:nvPicPr>
          <p:cNvPr id="12" name="ci_1_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470" y="3687318"/>
            <a:ext cx="297180" cy="297180"/>
          </a:xfrm>
          <a:prstGeom prst="rect">
            <a:avLst/>
          </a:prstGeom>
        </p:spPr>
      </p:pic>
      <p:sp>
        <p:nvSpPr>
          <p:cNvPr id="13" name="ci_n_1"/>
          <p:cNvSpPr txBox="1"/>
          <p:nvPr/>
        </p:nvSpPr>
        <p:spPr>
          <a:xfrm>
            <a:off x="8961120" y="32826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46%</a:t>
            </a:r>
            <a:endParaRPr lang="en-US" sz="2800" dirty="0"/>
          </a:p>
        </p:txBody>
      </p:sp>
      <p:sp>
        <p:nvSpPr>
          <p:cNvPr id="14" name="ci_d_1"/>
          <p:cNvSpPr txBox="1"/>
          <p:nvPr/>
        </p:nvSpPr>
        <p:spPr>
          <a:xfrm>
            <a:off x="8961120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 menções a defeito e durabilidade são negativas (57% em Casa e Cozinha)</a:t>
            </a:r>
            <a:endParaRPr lang="en-US" sz="1200" dirty="0"/>
          </a:p>
        </p:txBody>
      </p:sp>
      <p:sp>
        <p:nvSpPr>
          <p:cNvPr id="15" name="ci_2"/>
          <p:cNvSpPr/>
          <p:nvPr/>
        </p:nvSpPr>
        <p:spPr>
          <a:xfrm>
            <a:off x="8001000" y="4654296"/>
            <a:ext cx="3611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6" name="ci_2_circulo"/>
          <p:cNvSpPr/>
          <p:nvPr/>
        </p:nvSpPr>
        <p:spPr>
          <a:xfrm>
            <a:off x="8183880" y="5020056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7" name="ci_2_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470" y="5168646"/>
            <a:ext cx="297180" cy="297180"/>
          </a:xfrm>
          <a:prstGeom prst="rect">
            <a:avLst/>
          </a:prstGeom>
        </p:spPr>
      </p:pic>
      <p:sp>
        <p:nvSpPr>
          <p:cNvPr id="18" name="ci_n_2"/>
          <p:cNvSpPr txBox="1"/>
          <p:nvPr/>
        </p:nvSpPr>
        <p:spPr>
          <a:xfrm>
            <a:off x="8961120" y="47640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24%</a:t>
            </a:r>
            <a:endParaRPr lang="en-US" sz="2800" dirty="0"/>
          </a:p>
        </p:txBody>
      </p:sp>
      <p:sp>
        <p:nvSpPr>
          <p:cNvPr id="19" name="ci_d_2"/>
          <p:cNvSpPr txBox="1"/>
          <p:nvPr/>
        </p:nvSpPr>
        <p:spPr>
          <a:xfrm>
            <a:off x="8961120" y="52760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menções negativas em entrega e em atendimento: as maiores dores fora do produto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RECOMENDAÇÕES PARA O NEGÓCIO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Plano de ação: três prioridades altas</a:t>
            </a:r>
            <a:endParaRPr lang="en-US" sz="3000" dirty="0"/>
          </a:p>
        </p:txBody>
      </p:sp>
      <p:sp>
        <p:nvSpPr>
          <p:cNvPr id="4" name="rec_0"/>
          <p:cNvSpPr/>
          <p:nvPr/>
        </p:nvSpPr>
        <p:spPr>
          <a:xfrm>
            <a:off x="548640" y="169164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rec_0_circulo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C8473B"/>
          </a:solidFill>
          <a:ln w="12700">
            <a:solidFill>
              <a:srgbClr val="C8473B"/>
            </a:solidFill>
            <a:prstDash val="solid"/>
          </a:ln>
        </p:spPr>
      </p:sp>
      <p:pic>
        <p:nvPicPr>
          <p:cNvPr id="6" name="rec_0_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7" name="rec_num_0"/>
          <p:cNvSpPr txBox="1"/>
          <p:nvPr/>
        </p:nvSpPr>
        <p:spPr>
          <a:xfrm>
            <a:off x="3063240" y="2011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rec_t_0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Qualidade do sortimento</a:t>
            </a:r>
            <a:endParaRPr lang="en-US" sz="1900" dirty="0"/>
          </a:p>
        </p:txBody>
      </p:sp>
      <p:sp>
        <p:nvSpPr>
          <p:cNvPr id="9" name="rec_a_0"/>
          <p:cNvSpPr txBox="1"/>
          <p:nvPr/>
        </p:nvSpPr>
        <p:spPr>
          <a:xfrm>
            <a:off x="82296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Revisar com os fornecedores os 112 produtos em risco, começando pelos fones In-Ear</a:t>
            </a:r>
            <a:endParaRPr lang="en-US" sz="1400" dirty="0"/>
          </a:p>
        </p:txBody>
      </p:sp>
      <p:sp>
        <p:nvSpPr>
          <p:cNvPr id="10" name="rec_k_0"/>
          <p:cNvSpPr txBox="1"/>
          <p:nvPr/>
        </p:nvSpPr>
        <p:spPr>
          <a:xfrm>
            <a:off x="822960" y="4480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Acompanhar: % das avaliações em risco (hoje 11,7%)</a:t>
            </a:r>
            <a:endParaRPr lang="en-US" sz="1200" dirty="0"/>
          </a:p>
        </p:txBody>
      </p:sp>
      <p:sp>
        <p:nvSpPr>
          <p:cNvPr id="11" name="rec_1"/>
          <p:cNvSpPr/>
          <p:nvPr/>
        </p:nvSpPr>
        <p:spPr>
          <a:xfrm>
            <a:off x="4297680" y="169164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2" name="rec_1_circulo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3" name="rec_1_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48840"/>
            <a:ext cx="365760" cy="365760"/>
          </a:xfrm>
          <a:prstGeom prst="rect">
            <a:avLst/>
          </a:prstGeom>
        </p:spPr>
      </p:pic>
      <p:sp>
        <p:nvSpPr>
          <p:cNvPr id="14" name="rec_num_1"/>
          <p:cNvSpPr txBox="1"/>
          <p:nvPr/>
        </p:nvSpPr>
        <p:spPr>
          <a:xfrm>
            <a:off x="6812280" y="2011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rec_t_1"/>
          <p:cNvSpPr txBox="1"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Política de descontos</a:t>
            </a:r>
            <a:endParaRPr lang="en-US" sz="1900" dirty="0"/>
          </a:p>
        </p:txBody>
      </p:sp>
      <p:sp>
        <p:nvSpPr>
          <p:cNvPr id="16" name="rec_a_1"/>
          <p:cNvSpPr txBox="1"/>
          <p:nvPr/>
        </p:nvSpPr>
        <p:spPr>
          <a:xfrm>
            <a:off x="457200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Limitar descontos acima de 60% a itens com nota ≥ 4,0 e testar descontos de 21 a 40%</a:t>
            </a:r>
            <a:endParaRPr lang="en-US" sz="1400" dirty="0"/>
          </a:p>
        </p:txBody>
      </p:sp>
      <p:sp>
        <p:nvSpPr>
          <p:cNvPr id="17" name="rec_k_1"/>
          <p:cNvSpPr txBox="1"/>
          <p:nvPr/>
        </p:nvSpPr>
        <p:spPr>
          <a:xfrm>
            <a:off x="4572000" y="4480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Acompanhar: produtos com desconto &gt; 60% e nota &lt; 4,0</a:t>
            </a:r>
            <a:endParaRPr lang="en-US" sz="1200" dirty="0"/>
          </a:p>
        </p:txBody>
      </p:sp>
      <p:sp>
        <p:nvSpPr>
          <p:cNvPr id="18" name="rec_2"/>
          <p:cNvSpPr/>
          <p:nvPr/>
        </p:nvSpPr>
        <p:spPr>
          <a:xfrm>
            <a:off x="8046720" y="169164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9" name="rec_2_circulo"/>
          <p:cNvSpPr/>
          <p:nvPr/>
        </p:nvSpPr>
        <p:spPr>
          <a:xfrm>
            <a:off x="8321040" y="1965960"/>
            <a:ext cx="731520" cy="731520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pic>
        <p:nvPicPr>
          <p:cNvPr id="20" name="rec_2_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48840"/>
            <a:ext cx="365760" cy="365760"/>
          </a:xfrm>
          <a:prstGeom prst="rect">
            <a:avLst/>
          </a:prstGeom>
        </p:spPr>
      </p:pic>
      <p:sp>
        <p:nvSpPr>
          <p:cNvPr id="21" name="rec_num_2"/>
          <p:cNvSpPr txBox="1"/>
          <p:nvPr/>
        </p:nvSpPr>
        <p:spPr>
          <a:xfrm>
            <a:off x="10561320" y="20116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03</a:t>
            </a:r>
            <a:endParaRPr lang="en-US" sz="2800" dirty="0"/>
          </a:p>
        </p:txBody>
      </p:sp>
      <p:sp>
        <p:nvSpPr>
          <p:cNvPr id="22" name="rec_t_2"/>
          <p:cNvSpPr txBox="1"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Joias escondidas</a:t>
            </a:r>
            <a:endParaRPr lang="en-US" sz="1900" dirty="0"/>
          </a:p>
        </p:txBody>
      </p:sp>
      <p:sp>
        <p:nvSpPr>
          <p:cNvPr id="23" name="rec_a_2"/>
          <p:cNvSpPr txBox="1"/>
          <p:nvPr/>
        </p:nvSpPr>
        <p:spPr>
          <a:xfrm>
            <a:off x="832104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Dar visibilidade aos 446 produtos bem avaliados: vitrines, busca, combos e pedido de avaliação</a:t>
            </a:r>
            <a:endParaRPr lang="en-US" sz="1400" dirty="0"/>
          </a:p>
        </p:txBody>
      </p:sp>
      <p:sp>
        <p:nvSpPr>
          <p:cNvPr id="24" name="rec_k_2"/>
          <p:cNvSpPr txBox="1"/>
          <p:nvPr/>
        </p:nvSpPr>
        <p:spPr>
          <a:xfrm>
            <a:off x="8321040" y="4480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Acompanhar: participação no engajamento (hoje 3,1%)</a:t>
            </a:r>
            <a:endParaRPr lang="en-US" sz="1200" dirty="0"/>
          </a:p>
        </p:txBody>
      </p:sp>
      <p:sp>
        <p:nvSpPr>
          <p:cNvPr id="25" name="rec_demais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 seguida: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controle de qualidade e garantia para reduzir defeitos · SLA de entrega e pós-venda mais simples · destacar custo-benefício na comunicação · integrar vendas e devoluções à 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CONCLUSÃO EXECUTIVA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 que a liderança deve levar desta análise</a:t>
            </a:r>
            <a:endParaRPr lang="en-US" sz="3200" dirty="0"/>
          </a:p>
        </p:txBody>
      </p:sp>
      <p:sp>
        <p:nvSpPr>
          <p:cNvPr id="4" name="msg_0"/>
          <p:cNvSpPr/>
          <p:nvPr/>
        </p:nvSpPr>
        <p:spPr>
          <a:xfrm>
            <a:off x="548640" y="18288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5" name="msg_0_circulo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msg_0_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526030"/>
            <a:ext cx="388620" cy="388620"/>
          </a:xfrm>
          <a:prstGeom prst="rect">
            <a:avLst/>
          </a:prstGeom>
        </p:spPr>
      </p:pic>
      <p:sp>
        <p:nvSpPr>
          <p:cNvPr id="7" name="msg_n_0"/>
          <p:cNvSpPr txBox="1"/>
          <p:nvPr/>
        </p:nvSpPr>
        <p:spPr>
          <a:xfrm>
            <a:off x="5303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msg_t_0"/>
          <p:cNvSpPr txBox="1"/>
          <p:nvPr/>
        </p:nvSpPr>
        <p:spPr>
          <a:xfrm>
            <a:off x="1920240" y="2148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Poucos produtos sustentam o engajamento, e parte dele está em risco</a:t>
            </a:r>
            <a:endParaRPr lang="en-US" sz="1800" dirty="0"/>
          </a:p>
        </p:txBody>
      </p:sp>
      <p:sp>
        <p:nvSpPr>
          <p:cNvPr id="9" name="msg_1"/>
          <p:cNvSpPr/>
          <p:nvPr/>
        </p:nvSpPr>
        <p:spPr>
          <a:xfrm>
            <a:off x="6172200" y="18288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10" name="msg_1_circulo"/>
          <p:cNvSpPr/>
          <p:nvPr/>
        </p:nvSpPr>
        <p:spPr>
          <a:xfrm>
            <a:off x="6492240" y="2331720"/>
            <a:ext cx="777240" cy="7772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msg_1_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526030"/>
            <a:ext cx="388620" cy="388620"/>
          </a:xfrm>
          <a:prstGeom prst="rect">
            <a:avLst/>
          </a:prstGeom>
        </p:spPr>
      </p:pic>
      <p:sp>
        <p:nvSpPr>
          <p:cNvPr id="12" name="msg_n_1"/>
          <p:cNvSpPr txBox="1"/>
          <p:nvPr/>
        </p:nvSpPr>
        <p:spPr>
          <a:xfrm>
            <a:off x="10927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msg_t_1"/>
          <p:cNvSpPr txBox="1"/>
          <p:nvPr/>
        </p:nvSpPr>
        <p:spPr>
          <a:xfrm>
            <a:off x="7543800" y="2148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Desconto profundo não traz satisfação nem engajamento: desconto inteligente, não máximo</a:t>
            </a:r>
            <a:endParaRPr lang="en-US" sz="1800" dirty="0"/>
          </a:p>
        </p:txBody>
      </p:sp>
      <p:sp>
        <p:nvSpPr>
          <p:cNvPr id="14" name="msg_2"/>
          <p:cNvSpPr/>
          <p:nvPr/>
        </p:nvSpPr>
        <p:spPr>
          <a:xfrm>
            <a:off x="548640" y="38404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15" name="msg_2_circulo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msg_2_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537710"/>
            <a:ext cx="388620" cy="388620"/>
          </a:xfrm>
          <a:prstGeom prst="rect">
            <a:avLst/>
          </a:prstGeom>
        </p:spPr>
      </p:pic>
      <p:sp>
        <p:nvSpPr>
          <p:cNvPr id="17" name="msg_n_2"/>
          <p:cNvSpPr txBox="1"/>
          <p:nvPr/>
        </p:nvSpPr>
        <p:spPr>
          <a:xfrm>
            <a:off x="5303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msg_t_2"/>
          <p:cNvSpPr txBox="1"/>
          <p:nvPr/>
        </p:nvSpPr>
        <p:spPr>
          <a:xfrm>
            <a:off x="1920240" y="4160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Há produtos ótimos escondidos: dar visibilidade é a alavanca mais barata</a:t>
            </a:r>
            <a:endParaRPr lang="en-US" sz="1800" dirty="0"/>
          </a:p>
        </p:txBody>
      </p:sp>
      <p:sp>
        <p:nvSpPr>
          <p:cNvPr id="19" name="msg_3"/>
          <p:cNvSpPr/>
          <p:nvPr/>
        </p:nvSpPr>
        <p:spPr>
          <a:xfrm>
            <a:off x="6172200" y="38404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2E3D50"/>
          </a:solidFill>
          <a:ln w="12700">
            <a:solidFill>
              <a:srgbClr val="2E3D50"/>
            </a:solidFill>
            <a:prstDash val="solid"/>
          </a:ln>
        </p:spPr>
      </p:sp>
      <p:sp>
        <p:nvSpPr>
          <p:cNvPr id="20" name="msg_3_circulo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1" name="msg_3_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537710"/>
            <a:ext cx="388620" cy="388620"/>
          </a:xfrm>
          <a:prstGeom prst="rect">
            <a:avLst/>
          </a:prstGeom>
        </p:spPr>
      </p:pic>
      <p:sp>
        <p:nvSpPr>
          <p:cNvPr id="22" name="msg_n_3"/>
          <p:cNvSpPr txBox="1"/>
          <p:nvPr/>
        </p:nvSpPr>
        <p:spPr>
          <a:xfrm>
            <a:off x="10927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msg_t_3"/>
          <p:cNvSpPr txBox="1"/>
          <p:nvPr/>
        </p:nvSpPr>
        <p:spPr>
          <a:xfrm>
            <a:off x="7543800" y="4160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 cliente diz o que corrigir: durabilidade, entrega e garantia</a:t>
            </a:r>
            <a:endParaRPr lang="en-US" sz="1800" dirty="0"/>
          </a:p>
        </p:txBody>
      </p:sp>
      <p:sp>
        <p:nvSpPr>
          <p:cNvPr id="24" name="obrigado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Obrigado!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azon Insights">
  <a:themeElements>
    <a:clrScheme name="Amazon Insights">
      <a:dk1>
        <a:srgbClr val="1F2937"/>
      </a:dk1>
      <a:lt1>
        <a:srgbClr val="FFFFFF"/>
      </a:lt1>
      <a:dk2>
        <a:srgbClr val="232F3E"/>
      </a:dk2>
      <a:lt2>
        <a:srgbClr val="F3F5F9"/>
      </a:lt2>
      <a:accent1>
        <a:srgbClr val="FF9900"/>
      </a:accent1>
      <a:accent2>
        <a:srgbClr val="146EB4"/>
      </a:accent2>
      <a:accent3>
        <a:srgbClr val="2E9E6B"/>
      </a:accent3>
      <a:accent4>
        <a:srgbClr val="C8473B"/>
      </a:accent4>
      <a:accent5>
        <a:srgbClr val="8C96A3"/>
      </a:accent5>
      <a:accent6>
        <a:srgbClr val="E3B341"/>
      </a:accent6>
      <a:hlink>
        <a:srgbClr val="146EB4"/>
      </a:hlink>
      <a:folHlink>
        <a:srgbClr val="7B61C4"/>
      </a:folHlink>
    </a:clrScheme>
    <a:fontScheme name="Amazon Insigh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Product Performance &amp; Customer Insights</dc:title>
  <dc:subject>Tech Challenge Fase 4 - Data Analytics</dc:subject>
  <dc:creator>Livia Alves de Oliveira, Allan Carlos Diniz, Matheus Gueicha Ribeiro, Marcelo Henrique Mourão Abbade, André Vieira de Souza</dc:creator>
  <cp:lastModifiedBy>Livia Alves de Oliveira, Allan Carlos Diniz, Matheus Gueicha Ribeiro, Marcelo Henrique Mourão Abbade, André Vieira de Souza</cp:lastModifiedBy>
  <cp:revision>1</cp:revision>
  <dcterms:created xsi:type="dcterms:W3CDTF">2026-10-20T18:34:01Z</dcterms:created>
  <dcterms:modified xsi:type="dcterms:W3CDTF">2026-10-20T18:34:01Z</dcterms:modified>
</cp:coreProperties>
</file>